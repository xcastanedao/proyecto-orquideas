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55" d="100"/>
          <a:sy n="55" d="100"/>
        </p:scale>
        <p:origin x="225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738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86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798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6612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2920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059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402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166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147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927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124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9363F-4205-42AC-9BD3-308CA738F506}" type="datetimeFigureOut">
              <a:rPr lang="es-CO" smtClean="0"/>
              <a:t>12/09/2025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C62ED-0639-469B-A131-45E39BB88DB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945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438E49ED-DB03-1CE7-B33E-6B902D3DAF60}"/>
              </a:ext>
            </a:extLst>
          </p:cNvPr>
          <p:cNvSpPr txBox="1"/>
          <p:nvPr/>
        </p:nvSpPr>
        <p:spPr>
          <a:xfrm>
            <a:off x="116958" y="148856"/>
            <a:ext cx="6613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dirty="0"/>
              <a:t>La mayoría de las víctimas afiliadas a regímenes especiales reciben atención en salud mental (65%), mientras que las víctimas en estado de afiliación indeterminado solo 13% la recibe.</a:t>
            </a:r>
            <a:endParaRPr lang="es-CO" sz="12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6AE4B70-1437-5AAF-87DD-F7C05E373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610521"/>
            <a:ext cx="3172268" cy="1133633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E23438F-92F2-37C3-AB1E-5B5096AAE96C}"/>
              </a:ext>
            </a:extLst>
          </p:cNvPr>
          <p:cNvSpPr txBox="1"/>
          <p:nvPr/>
        </p:nvSpPr>
        <p:spPr>
          <a:xfrm>
            <a:off x="116958" y="1986712"/>
            <a:ext cx="6607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Aunque  m</a:t>
            </a:r>
            <a:r>
              <a:rPr lang="es-CO" sz="1200" dirty="0" err="1"/>
              <a:t>ás</a:t>
            </a:r>
            <a:r>
              <a:rPr lang="es-CO" sz="1200" dirty="0"/>
              <a:t> de la mitad de los casos de violencia contra mujeres corresponden a violencia física, </a:t>
            </a:r>
            <a:r>
              <a:rPr lang="es-ES" sz="1200" dirty="0"/>
              <a:t>solo el 41.8% de estas víctimas recibe atención en salud mental. En contraste, con los casos de negligencia y violencia sexual donde el 74% y 69%  de las víctimas </a:t>
            </a:r>
            <a:r>
              <a:rPr lang="es-CO" sz="1200" dirty="0"/>
              <a:t>recibieron este tipo de atención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64F7F0F-D3F1-7CC6-CC00-E4C945E65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760" y="2841161"/>
            <a:ext cx="4334480" cy="13527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EFDA45C-3E32-12A8-310A-C8A1300D5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232" y="4133576"/>
            <a:ext cx="6525536" cy="3924848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689965CA-4157-DE87-D241-2461FCD13DF0}"/>
              </a:ext>
            </a:extLst>
          </p:cNvPr>
          <p:cNvSpPr txBox="1"/>
          <p:nvPr/>
        </p:nvSpPr>
        <p:spPr>
          <a:xfrm>
            <a:off x="116957" y="8154117"/>
            <a:ext cx="6525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El 75% de los casos de violencia ocurre en el hogar.</a:t>
            </a:r>
            <a:endParaRPr lang="es-CO" sz="12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FBA4EC3-F526-1327-8536-57A4B212A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32" y="8431116"/>
            <a:ext cx="4429743" cy="1000265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9241990-C74D-53FD-4AB6-60BDC92079A5}"/>
              </a:ext>
            </a:extLst>
          </p:cNvPr>
          <p:cNvSpPr txBox="1"/>
          <p:nvPr/>
        </p:nvSpPr>
        <p:spPr>
          <a:xfrm>
            <a:off x="116956" y="9530308"/>
            <a:ext cx="660736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Cuando</a:t>
            </a:r>
            <a:r>
              <a:rPr lang="es-ES" dirty="0"/>
              <a:t> </a:t>
            </a:r>
            <a:r>
              <a:rPr lang="es-ES" sz="1200" dirty="0"/>
              <a:t>el agresor es mujer, solo 36% de los casos se informa a las autoridades, frente a 56% cuando el agresor es hombre.</a:t>
            </a:r>
            <a:endParaRPr lang="es-CO" sz="12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5D4EBD42-7A8F-72F1-98CC-BA8C90003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232" y="10245948"/>
            <a:ext cx="1629002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6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52D10-E793-A8BE-B33D-23867562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EF88A40-4E37-D42E-9A61-459DBE76E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9081"/>
            <a:ext cx="5239481" cy="400105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4773CC2-2192-CEDA-F9AC-7A5017754968}"/>
              </a:ext>
            </a:extLst>
          </p:cNvPr>
          <p:cNvSpPr txBox="1"/>
          <p:nvPr/>
        </p:nvSpPr>
        <p:spPr>
          <a:xfrm>
            <a:off x="0" y="2168084"/>
            <a:ext cx="6858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La remisión a protección es una atención que aplica para todo tipo de violencia. Sin embargo, en algunos departamentos más del 60% de las víctimas son remitidas [Vaupés(66%), San Andrés(65%)], mientras que en otros este porcentaje es menor al 30% [Casanare(22%), Bogotá(27%), Santander(28%)].</a:t>
            </a:r>
            <a:endParaRPr lang="es-CO" sz="1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2214E8-4425-B238-E65E-19614DEC0283}"/>
              </a:ext>
            </a:extLst>
          </p:cNvPr>
          <p:cNvSpPr txBox="1"/>
          <p:nvPr/>
        </p:nvSpPr>
        <p:spPr>
          <a:xfrm>
            <a:off x="0" y="7000139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Nota: departamento de notificación.</a:t>
            </a:r>
          </a:p>
          <a:p>
            <a:endParaRPr lang="es-CO" sz="1200" dirty="0"/>
          </a:p>
          <a:p>
            <a:r>
              <a:rPr lang="es-CO" sz="1200" dirty="0"/>
              <a:t>Respecto al porcentaje de víctimas que recibieron atención en salud mental, en San Andrés y Vaupés también fue más del 60%. Mientras que Casanare aumenta el % de atenciones y Bogotá y Santander continua con un % muy bajo. Se resalta un % mayor a 70% en </a:t>
            </a:r>
            <a:r>
              <a:rPr lang="es-CO" sz="1200" dirty="0" err="1"/>
              <a:t>Guanía</a:t>
            </a:r>
            <a:r>
              <a:rPr lang="es-CO" sz="1200" dirty="0"/>
              <a:t> y Nariño comparado con un % menor del 40% en Sucre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70EC3C-C212-2F97-DF0E-8DB73454D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00468"/>
            <a:ext cx="5858693" cy="399153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EC512BB-4465-00C0-99DD-0F5169D66E43}"/>
              </a:ext>
            </a:extLst>
          </p:cNvPr>
          <p:cNvSpPr txBox="1"/>
          <p:nvPr/>
        </p:nvSpPr>
        <p:spPr>
          <a:xfrm>
            <a:off x="0" y="17584"/>
            <a:ext cx="7033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Top 5 de diagnósticos CIE-10 que ocasionaron el fallecimiento de  la víctima:</a:t>
            </a:r>
            <a:br>
              <a:rPr lang="es-ES" sz="1200" dirty="0"/>
            </a:br>
            <a:r>
              <a:rPr lang="es-ES" sz="1200" dirty="0"/>
              <a:t>choque </a:t>
            </a:r>
            <a:r>
              <a:rPr lang="es-ES" sz="1200" dirty="0" err="1"/>
              <a:t>hipovolemico,paro</a:t>
            </a:r>
            <a:r>
              <a:rPr lang="es-ES" sz="1200" dirty="0"/>
              <a:t> </a:t>
            </a:r>
            <a:r>
              <a:rPr lang="es-ES" sz="1200" dirty="0" err="1"/>
              <a:t>cardiaco,violencia</a:t>
            </a:r>
            <a:r>
              <a:rPr lang="es-ES" sz="1200" dirty="0"/>
              <a:t> </a:t>
            </a:r>
            <a:r>
              <a:rPr lang="es-ES" sz="1200" dirty="0" err="1"/>
              <a:t>fisica,desnutricion</a:t>
            </a:r>
            <a:r>
              <a:rPr lang="es-ES" sz="1200" dirty="0"/>
              <a:t> </a:t>
            </a:r>
            <a:r>
              <a:rPr lang="es-ES" sz="1200" dirty="0" err="1"/>
              <a:t>proteicocalorica</a:t>
            </a:r>
            <a:r>
              <a:rPr lang="es-ES" sz="1200" dirty="0"/>
              <a:t> severa, sepsis, muerte sin asistencia</a:t>
            </a:r>
            <a:endParaRPr lang="es-CO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AF51A5F-4149-23A3-83FD-29022359A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1" y="663915"/>
            <a:ext cx="4296282" cy="150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379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</TotalTime>
  <Words>296</Words>
  <Application>Microsoft Office PowerPoint</Application>
  <PresentationFormat>Panorámica</PresentationFormat>
  <Paragraphs>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Ximena Castañeda Ochoa</dc:creator>
  <cp:lastModifiedBy>Ximena Castañeda Ochoa</cp:lastModifiedBy>
  <cp:revision>2</cp:revision>
  <dcterms:created xsi:type="dcterms:W3CDTF">2025-09-12T18:52:04Z</dcterms:created>
  <dcterms:modified xsi:type="dcterms:W3CDTF">2025-09-13T01:56:50Z</dcterms:modified>
</cp:coreProperties>
</file>